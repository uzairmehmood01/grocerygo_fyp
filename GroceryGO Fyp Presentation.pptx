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69" r:id="rId3"/>
    <p:sldId id="270" r:id="rId4"/>
    <p:sldId id="271" r:id="rId5"/>
    <p:sldId id="287" r:id="rId6"/>
    <p:sldId id="272" r:id="rId7"/>
    <p:sldId id="289" r:id="rId8"/>
    <p:sldId id="273" r:id="rId9"/>
    <p:sldId id="284" r:id="rId10"/>
    <p:sldId id="285" r:id="rId11"/>
    <p:sldId id="290" r:id="rId12"/>
    <p:sldId id="292" r:id="rId13"/>
    <p:sldId id="288" r:id="rId14"/>
    <p:sldId id="274" r:id="rId15"/>
    <p:sldId id="286" r:id="rId16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Final Year Project Proposal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defRPr/>
            </a:pPr>
            <a:r>
              <a:rPr lang="en-US" b="1" dirty="0" err="1"/>
              <a:t>GroceryGo</a:t>
            </a:r>
            <a:endParaRPr lang="en-US" b="1" dirty="0"/>
          </a:p>
          <a:p>
            <a:pPr marL="63500" eaLnBrk="1" fontAlgn="auto" hangingPunct="1">
              <a:spcAft>
                <a:spcPts val="0"/>
              </a:spcAft>
              <a:defRPr/>
            </a:pPr>
            <a:r>
              <a:rPr lang="en-US" sz="1800" dirty="0"/>
              <a:t>A Smart Online Grocery Platform with Flexible Delivery, Product Substitution and Local Price Comparison</a:t>
            </a:r>
          </a:p>
          <a:p>
            <a:pPr marL="63500" eaLnBrk="1" fontAlgn="auto" hangingPunct="1">
              <a:spcAft>
                <a:spcPts val="0"/>
              </a:spcAft>
              <a:defRPr/>
            </a:pPr>
            <a:r>
              <a:rPr lang="en-US" sz="2400" dirty="0"/>
              <a:t>Supervised By: Mr. Ishtiaq Ali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dirty="0"/>
              <a:t>Project Team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Uzair Mahmood</a:t>
            </a:r>
            <a:r>
              <a:rPr dirty="0"/>
              <a:t> (48</a:t>
            </a:r>
            <a:r>
              <a:rPr lang="en-US" dirty="0"/>
              <a:t>405</a:t>
            </a:r>
            <a:r>
              <a:rPr dirty="0"/>
              <a:t>)</a:t>
            </a:r>
          </a:p>
          <a:p>
            <a:r>
              <a:rPr lang="en-US" dirty="0"/>
              <a:t>Arsalan Shah</a:t>
            </a:r>
            <a:r>
              <a:rPr dirty="0"/>
              <a:t> (4</a:t>
            </a:r>
            <a:r>
              <a:rPr lang="en-US" dirty="0"/>
              <a:t>7718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Opportunity &amp; Stakeholders</a:t>
            </a:r>
          </a:p>
          <a:p>
            <a:r>
              <a:t>2. Existing Systems</a:t>
            </a:r>
          </a:p>
          <a:p>
            <a:r>
              <a:t>3. Problem Statement</a:t>
            </a:r>
          </a:p>
          <a:p>
            <a:r>
              <a:t>4. Proposed Solution</a:t>
            </a:r>
          </a:p>
          <a:p>
            <a:r>
              <a:t>5. Project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44561"/>
          </a:xfrm>
        </p:spPr>
        <p:txBody>
          <a:bodyPr/>
          <a:lstStyle/>
          <a:p>
            <a:r>
              <a:rPr dirty="0"/>
              <a:t>Opportunity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86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sz="3600" b="1" dirty="0"/>
              <a:t>Opportunity:</a:t>
            </a:r>
          </a:p>
          <a:p>
            <a:pPr lvl="0"/>
            <a:r>
              <a:rPr lang="en-US" sz="2000" dirty="0"/>
              <a:t>People increasingly order groceries through mobile apps. </a:t>
            </a:r>
          </a:p>
          <a:p>
            <a:pPr lvl="0"/>
            <a:r>
              <a:rPr lang="en-US" sz="2000" dirty="0"/>
              <a:t>Customers need more control over when their groceries are delivered. </a:t>
            </a:r>
          </a:p>
          <a:p>
            <a:pPr lvl="0"/>
            <a:r>
              <a:rPr lang="en-US" sz="2000" dirty="0"/>
              <a:t>Product unavailability can make customers change or cancel their order. </a:t>
            </a:r>
          </a:p>
          <a:p>
            <a:pPr lvl="0"/>
            <a:r>
              <a:rPr lang="en-US" sz="2000" dirty="0"/>
              <a:t>Customers may want to compare prices from nearby stores before buying. </a:t>
            </a:r>
          </a:p>
          <a:p>
            <a:pPr lvl="0"/>
            <a:r>
              <a:rPr lang="en-US" sz="2000" dirty="0"/>
              <a:t>Frequently purchased items can take time to find again. </a:t>
            </a:r>
          </a:p>
          <a:p>
            <a:pPr lvl="0"/>
            <a:r>
              <a:rPr lang="en-US" sz="2000" dirty="0"/>
              <a:t>Customers need an easy way to report problems and give suggestions.</a:t>
            </a:r>
          </a:p>
          <a:p>
            <a:pPr marL="0" indent="0">
              <a:buNone/>
            </a:pPr>
            <a:r>
              <a:rPr lang="en-US" sz="2000" b="1" dirty="0"/>
              <a:t>Goal:</a:t>
            </a:r>
          </a:p>
          <a:p>
            <a:pPr marL="0" indent="0">
              <a:buNone/>
            </a:pPr>
            <a:r>
              <a:rPr lang="en-US" sz="2000" dirty="0"/>
              <a:t>       To provide a grocery platform that makes ordering, delivery planning, money management and product selection easier for customers.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E7F8-046F-0AD2-DF27-6218ED34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/>
          <a:lstStyle/>
          <a:p>
            <a:r>
              <a:rPr lang="en-US" sz="4800" b="1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AC0F-93E0-90A9-E256-B7679B5C0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4999"/>
            <a:ext cx="8229600" cy="3886201"/>
          </a:xfrm>
        </p:spPr>
        <p:txBody>
          <a:bodyPr/>
          <a:lstStyle/>
          <a:p>
            <a:r>
              <a:rPr lang="en-US" b="1" dirty="0"/>
              <a:t>Primary: </a:t>
            </a:r>
          </a:p>
          <a:p>
            <a:pPr marL="0" lvl="0" indent="0">
              <a:buNone/>
            </a:pPr>
            <a:r>
              <a:rPr lang="en-US" b="1" dirty="0"/>
              <a:t>               </a:t>
            </a:r>
            <a:r>
              <a:rPr lang="en-US" dirty="0"/>
              <a:t>Customers, Grocery Stores, Delivery Riders</a:t>
            </a:r>
          </a:p>
          <a:p>
            <a:r>
              <a:rPr lang="en-US" b="1" dirty="0"/>
              <a:t>Secondary: </a:t>
            </a:r>
          </a:p>
          <a:p>
            <a:pPr marL="0" lvl="0" indent="0">
              <a:buNone/>
            </a:pPr>
            <a:r>
              <a:rPr lang="en-US" b="1" dirty="0"/>
              <a:t>            </a:t>
            </a:r>
            <a:r>
              <a:rPr lang="en-US" dirty="0"/>
              <a:t>System Administrator, Customer Support Team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468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8" y="169606"/>
            <a:ext cx="8229600" cy="838200"/>
          </a:xfrm>
        </p:spPr>
        <p:txBody>
          <a:bodyPr/>
          <a:lstStyle/>
          <a:p>
            <a:r>
              <a:rPr dirty="0"/>
              <a:t>Existing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AA21AA-25A0-F504-3389-AE5672CC6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271780"/>
              </p:ext>
            </p:extLst>
          </p:nvPr>
        </p:nvGraphicFramePr>
        <p:xfrm>
          <a:off x="457202" y="990600"/>
          <a:ext cx="1600202" cy="4800598"/>
        </p:xfrm>
        <a:graphic>
          <a:graphicData uri="http://schemas.openxmlformats.org/drawingml/2006/table">
            <a:tbl>
              <a:tblPr/>
              <a:tblGrid>
                <a:gridCol w="1600202">
                  <a:extLst>
                    <a:ext uri="{9D8B030D-6E8A-4147-A177-3AD203B41FA5}">
                      <a16:colId xmlns:a16="http://schemas.microsoft.com/office/drawing/2014/main" val="1633657197"/>
                    </a:ext>
                  </a:extLst>
                </a:gridCol>
              </a:tblGrid>
              <a:tr h="10462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836668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507754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238647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898129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746101"/>
                  </a:ext>
                </a:extLst>
              </a:tr>
              <a:tr h="38043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645723"/>
                  </a:ext>
                </a:extLst>
              </a:tr>
              <a:tr h="6747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71327" marR="71327" marT="35664" marB="356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63710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69F749-CB1C-6328-130F-29583337C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521107"/>
              </p:ext>
            </p:extLst>
          </p:nvPr>
        </p:nvGraphicFramePr>
        <p:xfrm>
          <a:off x="381000" y="1141889"/>
          <a:ext cx="8534401" cy="4620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415">
                  <a:extLst>
                    <a:ext uri="{9D8B030D-6E8A-4147-A177-3AD203B41FA5}">
                      <a16:colId xmlns:a16="http://schemas.microsoft.com/office/drawing/2014/main" val="3728174964"/>
                    </a:ext>
                  </a:extLst>
                </a:gridCol>
                <a:gridCol w="1224718">
                  <a:extLst>
                    <a:ext uri="{9D8B030D-6E8A-4147-A177-3AD203B41FA5}">
                      <a16:colId xmlns:a16="http://schemas.microsoft.com/office/drawing/2014/main" val="2842975098"/>
                    </a:ext>
                  </a:extLst>
                </a:gridCol>
                <a:gridCol w="1331376">
                  <a:extLst>
                    <a:ext uri="{9D8B030D-6E8A-4147-A177-3AD203B41FA5}">
                      <a16:colId xmlns:a16="http://schemas.microsoft.com/office/drawing/2014/main" val="3972795745"/>
                    </a:ext>
                  </a:extLst>
                </a:gridCol>
                <a:gridCol w="981981">
                  <a:extLst>
                    <a:ext uri="{9D8B030D-6E8A-4147-A177-3AD203B41FA5}">
                      <a16:colId xmlns:a16="http://schemas.microsoft.com/office/drawing/2014/main" val="2620204904"/>
                    </a:ext>
                  </a:extLst>
                </a:gridCol>
                <a:gridCol w="1088637">
                  <a:extLst>
                    <a:ext uri="{9D8B030D-6E8A-4147-A177-3AD203B41FA5}">
                      <a16:colId xmlns:a16="http://schemas.microsoft.com/office/drawing/2014/main" val="23848039"/>
                    </a:ext>
                  </a:extLst>
                </a:gridCol>
                <a:gridCol w="1088637">
                  <a:extLst>
                    <a:ext uri="{9D8B030D-6E8A-4147-A177-3AD203B41FA5}">
                      <a16:colId xmlns:a16="http://schemas.microsoft.com/office/drawing/2014/main" val="47668854"/>
                    </a:ext>
                  </a:extLst>
                </a:gridCol>
                <a:gridCol w="1088637">
                  <a:extLst>
                    <a:ext uri="{9D8B030D-6E8A-4147-A177-3AD203B41FA5}">
                      <a16:colId xmlns:a16="http://schemas.microsoft.com/office/drawing/2014/main" val="1015251325"/>
                    </a:ext>
                  </a:extLst>
                </a:gridCol>
              </a:tblGrid>
              <a:tr h="951270">
                <a:tc>
                  <a:txBody>
                    <a:bodyPr/>
                    <a:lstStyle/>
                    <a:p>
                      <a:r>
                        <a:rPr lang="en-US" sz="2000" dirty="0"/>
                        <a:t>      </a:t>
                      </a:r>
                    </a:p>
                    <a:p>
                      <a:r>
                        <a:rPr lang="en-US" sz="2000" dirty="0"/>
                        <a:t>         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GroceryGo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Pandamart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Careem Quik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Grocer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Bazar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Amazon Fresh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313789"/>
                  </a:ext>
                </a:extLst>
              </a:tr>
              <a:tr h="605353">
                <a:tc>
                  <a:txBody>
                    <a:bodyPr/>
                    <a:lstStyle/>
                    <a:p>
                      <a:r>
                        <a:rPr lang="en-US" dirty="0"/>
                        <a:t>Smart Delivery Slot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</a:p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88746"/>
                  </a:ext>
                </a:extLst>
              </a:tr>
              <a:tr h="605353">
                <a:tc>
                  <a:txBody>
                    <a:bodyPr/>
                    <a:lstStyle/>
                    <a:p>
                      <a:r>
                        <a:rPr lang="en-US" dirty="0"/>
                        <a:t>Substitution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</a:t>
                      </a:r>
                    </a:p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72837"/>
                  </a:ext>
                </a:extLst>
              </a:tr>
              <a:tr h="1383665">
                <a:tc>
                  <a:txBody>
                    <a:bodyPr/>
                    <a:lstStyle/>
                    <a:p>
                      <a:r>
                        <a:rPr lang="en-US" dirty="0"/>
                        <a:t>Price comparison across different local stores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621890"/>
                  </a:ext>
                </a:extLst>
              </a:tr>
              <a:tr h="345916">
                <a:tc>
                  <a:txBody>
                    <a:bodyPr/>
                    <a:lstStyle/>
                    <a:p>
                      <a:r>
                        <a:rPr lang="en-US" dirty="0"/>
                        <a:t>Past 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346174"/>
                  </a:ext>
                </a:extLst>
              </a:tr>
              <a:tr h="605353">
                <a:tc>
                  <a:txBody>
                    <a:bodyPr/>
                    <a:lstStyle/>
                    <a:p>
                      <a:r>
                        <a:rPr lang="en-US" dirty="0"/>
                        <a:t>Repeat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 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</a:t>
                      </a:r>
                    </a:p>
                    <a:p>
                      <a:r>
                        <a:rPr lang="en-US" dirty="0"/>
                        <a:t>       ❌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9706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2252-B9D4-4B4B-E944-4E2BB1CB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2895BC-DC9F-0F09-CB96-DEE31FB49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519805"/>
              </p:ext>
            </p:extLst>
          </p:nvPr>
        </p:nvGraphicFramePr>
        <p:xfrm>
          <a:off x="152400" y="1417638"/>
          <a:ext cx="8839200" cy="177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16">
                  <a:extLst>
                    <a:ext uri="{9D8B030D-6E8A-4147-A177-3AD203B41FA5}">
                      <a16:colId xmlns:a16="http://schemas.microsoft.com/office/drawing/2014/main" val="96245946"/>
                    </a:ext>
                  </a:extLst>
                </a:gridCol>
                <a:gridCol w="1230468">
                  <a:extLst>
                    <a:ext uri="{9D8B030D-6E8A-4147-A177-3AD203B41FA5}">
                      <a16:colId xmlns:a16="http://schemas.microsoft.com/office/drawing/2014/main" val="3660477188"/>
                    </a:ext>
                  </a:extLst>
                </a:gridCol>
                <a:gridCol w="1666944">
                  <a:extLst>
                    <a:ext uri="{9D8B030D-6E8A-4147-A177-3AD203B41FA5}">
                      <a16:colId xmlns:a16="http://schemas.microsoft.com/office/drawing/2014/main" val="1920177212"/>
                    </a:ext>
                  </a:extLst>
                </a:gridCol>
                <a:gridCol w="1189892">
                  <a:extLst>
                    <a:ext uri="{9D8B030D-6E8A-4147-A177-3AD203B41FA5}">
                      <a16:colId xmlns:a16="http://schemas.microsoft.com/office/drawing/2014/main" val="1231446596"/>
                    </a:ext>
                  </a:extLst>
                </a:gridCol>
                <a:gridCol w="1529862">
                  <a:extLst>
                    <a:ext uri="{9D8B030D-6E8A-4147-A177-3AD203B41FA5}">
                      <a16:colId xmlns:a16="http://schemas.microsoft.com/office/drawing/2014/main" val="613465710"/>
                    </a:ext>
                  </a:extLst>
                </a:gridCol>
                <a:gridCol w="1019909">
                  <a:extLst>
                    <a:ext uri="{9D8B030D-6E8A-4147-A177-3AD203B41FA5}">
                      <a16:colId xmlns:a16="http://schemas.microsoft.com/office/drawing/2014/main" val="779536761"/>
                    </a:ext>
                  </a:extLst>
                </a:gridCol>
                <a:gridCol w="1019909">
                  <a:extLst>
                    <a:ext uri="{9D8B030D-6E8A-4147-A177-3AD203B41FA5}">
                      <a16:colId xmlns:a16="http://schemas.microsoft.com/office/drawing/2014/main" val="1734573978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r>
                        <a:rPr lang="en-US" sz="2000" dirty="0"/>
                        <a:t>      </a:t>
                      </a:r>
                    </a:p>
                    <a:p>
                      <a:r>
                        <a:rPr lang="en-US" sz="2000" dirty="0"/>
                        <a:t>     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GroceryGo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Pandamart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Careem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Grocer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Bazar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Amazon Fresh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53133"/>
                  </a:ext>
                </a:extLst>
              </a:tr>
              <a:tr h="765313">
                <a:tc>
                  <a:txBody>
                    <a:bodyPr/>
                    <a:lstStyle/>
                    <a:p>
                      <a:r>
                        <a:rPr lang="en-US" sz="1400" dirty="0"/>
                        <a:t>Money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</a:p>
                    <a:p>
                      <a:r>
                        <a:rPr lang="en-US" dirty="0"/>
                        <a:t>       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r>
                        <a:rPr lang="en-US" dirty="0"/>
                        <a:t>   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</a:p>
                    <a:p>
                      <a:r>
                        <a:rPr lang="en-US" dirty="0"/>
                        <a:t>      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</a:p>
                    <a:p>
                      <a:r>
                        <a:rPr lang="en-US" dirty="0"/>
                        <a:t>     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</a:t>
                      </a:r>
                    </a:p>
                    <a:p>
                      <a:r>
                        <a:rPr lang="en-US" dirty="0"/>
                        <a:t> 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971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485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2C5014-F19C-84A2-E3CF-64440CD2F2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208951"/>
              </p:ext>
            </p:extLst>
          </p:nvPr>
        </p:nvGraphicFramePr>
        <p:xfrm>
          <a:off x="381000" y="1143000"/>
          <a:ext cx="8229600" cy="444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14255637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57231956"/>
                    </a:ext>
                  </a:extLst>
                </a:gridCol>
              </a:tblGrid>
              <a:tr h="358461">
                <a:tc>
                  <a:txBody>
                    <a:bodyPr/>
                    <a:lstStyle/>
                    <a:p>
                      <a:r>
                        <a:rPr lang="en-US" sz="1200" dirty="0"/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3948"/>
                  </a:ext>
                </a:extLst>
              </a:tr>
              <a:tr h="618714">
                <a:tc>
                  <a:txBody>
                    <a:bodyPr/>
                    <a:lstStyle/>
                    <a:p>
                      <a:r>
                        <a:rPr lang="en-US" sz="1200" dirty="0"/>
                        <a:t>The problem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 proper customized delivery option and no system to encourage customers to follow their selected delivery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30419"/>
                  </a:ext>
                </a:extLst>
              </a:tr>
              <a:tr h="568233">
                <a:tc>
                  <a:txBody>
                    <a:bodyPr/>
                    <a:lstStyle/>
                    <a:p>
                      <a:r>
                        <a:rPr lang="en-US" sz="1200" dirty="0"/>
                        <a:t>Affects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Customers who want their order at a specific future time and the delivery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32330"/>
                  </a:ext>
                </a:extLst>
              </a:tr>
              <a:tr h="618714">
                <a:tc>
                  <a:txBody>
                    <a:bodyPr/>
                    <a:lstStyle/>
                    <a:p>
                      <a:r>
                        <a:rPr lang="en-US" sz="1200" dirty="0"/>
                        <a:t>The result of 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Customers may select a delivery time but not be available to receive the order, which can cause delays and affect delivery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99443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r>
                        <a:rPr lang="en-US" sz="1200" dirty="0"/>
                        <a:t>Benefits of solving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Customers can select a future time such as 5:00–5:30 PM or 5:00–6:00 PM.</a:t>
                      </a:r>
                    </a:p>
                    <a:p>
                      <a:pPr lvl="0"/>
                      <a:r>
                        <a:rPr lang="en-US" sz="1200" dirty="0"/>
                        <a:t>Customers who do not receive their order at the selected time will receive a </a:t>
                      </a:r>
                      <a:r>
                        <a:rPr lang="en-US" sz="1200" b="0" dirty="0"/>
                        <a:t>time/priority penalty, </a:t>
                      </a:r>
                      <a:r>
                        <a:rPr lang="en-US" sz="1200" dirty="0"/>
                        <a:t>not a monetary penalty. </a:t>
                      </a:r>
                    </a:p>
                    <a:p>
                      <a:pPr lvl="0"/>
                      <a:r>
                        <a:rPr lang="en-US" sz="1200" dirty="0"/>
                        <a:t>Customers who regularly follow their selected delivery times will earn </a:t>
                      </a:r>
                      <a:r>
                        <a:rPr lang="en-US" sz="1200" b="0" dirty="0"/>
                        <a:t>points. </a:t>
                      </a:r>
                    </a:p>
                    <a:p>
                      <a:pPr lvl="0"/>
                      <a:r>
                        <a:rPr lang="en-US" sz="1200" dirty="0"/>
                        <a:t>After reaching </a:t>
                      </a:r>
                      <a:r>
                        <a:rPr lang="en-US" sz="1200" b="0" dirty="0"/>
                        <a:t>100 points, the customer gets free delivery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4889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r>
                        <a:rPr lang="en-US" sz="1200" dirty="0"/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Customized delivery must have at least</a:t>
                      </a:r>
                      <a:r>
                        <a:rPr lang="en-US" sz="1200" b="1" dirty="0"/>
                        <a:t> </a:t>
                      </a:r>
                      <a:r>
                        <a:rPr lang="en-US" sz="1200" b="0" dirty="0"/>
                        <a:t>one hour gap from the current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114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4F267-2212-FC4F-1BE5-752403FF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470F-7CF8-E9EC-DB3E-4969BEF4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0E1211-0BD5-F885-CCC1-6BEEC6C54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6132440"/>
              </p:ext>
            </p:extLst>
          </p:nvPr>
        </p:nvGraphicFramePr>
        <p:xfrm>
          <a:off x="457200" y="1143000"/>
          <a:ext cx="82296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142556377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457231956"/>
                    </a:ext>
                  </a:extLst>
                </a:gridCol>
              </a:tblGrid>
              <a:tr h="285502"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3948"/>
                  </a:ext>
                </a:extLst>
              </a:tr>
              <a:tr h="499626">
                <a:tc>
                  <a:txBody>
                    <a:bodyPr/>
                    <a:lstStyle/>
                    <a:p>
                      <a:r>
                        <a:rPr lang="en-US" dirty="0"/>
                        <a:t>The problem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Products may become unavailable after the customer selects them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30419"/>
                  </a:ext>
                </a:extLst>
              </a:tr>
              <a:tr h="499626">
                <a:tc>
                  <a:txBody>
                    <a:bodyPr/>
                    <a:lstStyle/>
                    <a:p>
                      <a:r>
                        <a:rPr lang="en-US" dirty="0"/>
                        <a:t>Affects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who want a specific brand, size or 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32330"/>
                  </a:ext>
                </a:extLst>
              </a:tr>
              <a:tr h="713752">
                <a:tc>
                  <a:txBody>
                    <a:bodyPr/>
                    <a:lstStyle/>
                    <a:p>
                      <a:r>
                        <a:rPr lang="en-US" dirty="0"/>
                        <a:t>The result of 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may receive an unwanted replacement or may need to search for another product themselves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99443"/>
                  </a:ext>
                </a:extLst>
              </a:tr>
              <a:tr h="302965">
                <a:tc>
                  <a:txBody>
                    <a:bodyPr/>
                    <a:lstStyle/>
                    <a:p>
                      <a:r>
                        <a:rPr lang="en-US" dirty="0"/>
                        <a:t>Benefits of solving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system can suggest suitable alternatives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4889"/>
                  </a:ext>
                </a:extLst>
              </a:tr>
              <a:tr h="1356129"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</a:t>
                      </a:r>
                      <a:r>
                        <a:rPr lang="en-US" b="0" dirty="0"/>
                        <a:t>Nestle Milk 250ml </a:t>
                      </a:r>
                      <a:r>
                        <a:rPr lang="en-US" dirty="0"/>
                        <a:t>is unavailable: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Nestlé Milk 500ml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Nestlé Milk 1L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Other available brands such as </a:t>
                      </a:r>
                      <a:r>
                        <a:rPr lang="en-US" dirty="0" err="1"/>
                        <a:t>Olper's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Dayfresh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Nurpur</a:t>
                      </a:r>
                      <a:r>
                        <a:rPr lang="en-US" dirty="0"/>
                        <a:t> or </a:t>
                      </a:r>
                      <a:r>
                        <a:rPr lang="en-US" dirty="0" err="1"/>
                        <a:t>Haleeb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No Replacement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551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1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2589D-651B-765F-12E0-8F686A87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14B8-8649-F30E-83CA-B528DBF8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58" y="304800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8972CF-0061-2F21-B89A-40B2473F6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944136"/>
              </p:ext>
            </p:extLst>
          </p:nvPr>
        </p:nvGraphicFramePr>
        <p:xfrm>
          <a:off x="457200" y="1600200"/>
          <a:ext cx="8229600" cy="3952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142556377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457231956"/>
                    </a:ext>
                  </a:extLst>
                </a:gridCol>
              </a:tblGrid>
              <a:tr h="461946"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3948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r>
                        <a:rPr lang="en-US" dirty="0"/>
                        <a:t>The problem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cannot easily compare grocery prices from nearby stores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30419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r>
                        <a:rPr lang="en-US" dirty="0"/>
                        <a:t>Affects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who want to control their grocery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32330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r>
                        <a:rPr lang="en-US" dirty="0"/>
                        <a:t>The result of 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may buy a product without knowing that the same product is available at a lower price nearby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99443"/>
                  </a:ext>
                </a:extLst>
              </a:tr>
              <a:tr h="1139045">
                <a:tc>
                  <a:txBody>
                    <a:bodyPr/>
                    <a:lstStyle/>
                    <a:p>
                      <a:r>
                        <a:rPr lang="en-US" dirty="0"/>
                        <a:t>Benefits of solving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can search for products and compare prices from multiple nearby stores before placing an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9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A5ACA-5FA5-FC0D-86CD-E4D7C845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09F3-9ACB-8950-A41B-11CB2C22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58" y="304800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5CEFB7-A5C0-C324-7D35-3D9845CFF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196219"/>
              </p:ext>
            </p:extLst>
          </p:nvPr>
        </p:nvGraphicFramePr>
        <p:xfrm>
          <a:off x="457200" y="1600200"/>
          <a:ext cx="8229600" cy="3885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142556377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457231956"/>
                    </a:ext>
                  </a:extLst>
                </a:gridCol>
              </a:tblGrid>
              <a:tr h="461946"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3948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r>
                        <a:rPr lang="en-US" dirty="0"/>
                        <a:t>The problem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 previously purchased grocery items again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30419"/>
                  </a:ext>
                </a:extLst>
              </a:tr>
              <a:tr h="461946">
                <a:tc>
                  <a:txBody>
                    <a:bodyPr/>
                    <a:lstStyle/>
                    <a:p>
                      <a:r>
                        <a:rPr lang="en-US" dirty="0"/>
                        <a:t>Affects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who regularly buy the same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32330"/>
                  </a:ext>
                </a:extLst>
              </a:tr>
              <a:tr h="797331">
                <a:tc>
                  <a:txBody>
                    <a:bodyPr/>
                    <a:lstStyle/>
                    <a:p>
                      <a:r>
                        <a:rPr lang="en-US" dirty="0"/>
                        <a:t>The result of 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have to search for the same products again and again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99443"/>
                  </a:ext>
                </a:extLst>
              </a:tr>
              <a:tr h="1139045">
                <a:tc>
                  <a:txBody>
                    <a:bodyPr/>
                    <a:lstStyle/>
                    <a:p>
                      <a:r>
                        <a:rPr lang="en-US" dirty="0"/>
                        <a:t>Benefits of solving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View </a:t>
                      </a:r>
                      <a:r>
                        <a:rPr lang="en-US" b="0" dirty="0"/>
                        <a:t>Past Purchases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Quickly find previously ordered products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Easily order commonly purchased items again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32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E8BB-A42B-1469-A31A-3EC42F62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86237-7556-CF7E-4954-FD2E6640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58" y="304800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484216-33DC-8F54-966E-E47D859790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229893"/>
              </p:ext>
            </p:extLst>
          </p:nvPr>
        </p:nvGraphicFramePr>
        <p:xfrm>
          <a:off x="457200" y="1219201"/>
          <a:ext cx="8229600" cy="4296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142556377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457231956"/>
                    </a:ext>
                  </a:extLst>
                </a:gridCol>
              </a:tblGrid>
              <a:tr h="393306">
                <a:tc>
                  <a:txBody>
                    <a:bodyPr/>
                    <a:lstStyle/>
                    <a:p>
                      <a:r>
                        <a:rPr lang="en-US" dirty="0"/>
                        <a:t>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33948"/>
                  </a:ext>
                </a:extLst>
              </a:tr>
              <a:tr h="853699">
                <a:tc>
                  <a:txBody>
                    <a:bodyPr/>
                    <a:lstStyle/>
                    <a:p>
                      <a:r>
                        <a:rPr lang="en-US" dirty="0"/>
                        <a:t>The problem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may not know how to manage their grocery budget according to the number of people and their basic needs.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30419"/>
                  </a:ext>
                </a:extLst>
              </a:tr>
              <a:tr h="853699">
                <a:tc>
                  <a:txBody>
                    <a:bodyPr/>
                    <a:lstStyle/>
                    <a:p>
                      <a:r>
                        <a:rPr lang="en-US" dirty="0"/>
                        <a:t>Affects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who have a limited grocery budget or need to plan groceries for different numbers of people.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432330"/>
                  </a:ext>
                </a:extLst>
              </a:tr>
              <a:tr h="853699">
                <a:tc>
                  <a:txBody>
                    <a:bodyPr/>
                    <a:lstStyle/>
                    <a:p>
                      <a:r>
                        <a:rPr lang="en-US" dirty="0"/>
                        <a:t>The result of which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 may spend too much on non-essential products and may not have enough budget for essential grocery items.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99443"/>
                  </a:ext>
                </a:extLst>
              </a:tr>
              <a:tr h="1160397">
                <a:tc>
                  <a:txBody>
                    <a:bodyPr/>
                    <a:lstStyle/>
                    <a:p>
                      <a:r>
                        <a:rPr lang="en-US" dirty="0"/>
                        <a:t>Benefits of solving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Money Management feature will help customers create a grocery plan according to their selected Person and Budget options.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114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51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EE85-3E9D-74D3-7FDE-30FEDB42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238E54-90F6-2B6A-3D1F-3320816C7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329" y="1317593"/>
            <a:ext cx="8229600" cy="422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287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Scope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6F72EC-BDA0-AC08-9C30-6BABA56077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368889"/>
              </p:ext>
            </p:extLst>
          </p:nvPr>
        </p:nvGraphicFramePr>
        <p:xfrm>
          <a:off x="190500" y="1219201"/>
          <a:ext cx="8763000" cy="461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611">
                  <a:extLst>
                    <a:ext uri="{9D8B030D-6E8A-4147-A177-3AD203B41FA5}">
                      <a16:colId xmlns:a16="http://schemas.microsoft.com/office/drawing/2014/main" val="1968962941"/>
                    </a:ext>
                  </a:extLst>
                </a:gridCol>
                <a:gridCol w="6653389">
                  <a:extLst>
                    <a:ext uri="{9D8B030D-6E8A-4147-A177-3AD203B41FA5}">
                      <a16:colId xmlns:a16="http://schemas.microsoft.com/office/drawing/2014/main" val="3125511654"/>
                    </a:ext>
                  </a:extLst>
                </a:gridCol>
              </a:tblGrid>
              <a:tr h="314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92703"/>
                  </a:ext>
                </a:extLst>
              </a:tr>
              <a:tr h="370092">
                <a:tc>
                  <a:txBody>
                    <a:bodyPr/>
                    <a:lstStyle/>
                    <a:p>
                      <a:r>
                        <a:rPr lang="en-US" dirty="0"/>
                        <a:t>Customer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Registration and login, Grocery Search, Online Ordering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611038"/>
                  </a:ext>
                </a:extLst>
              </a:tr>
              <a:tr h="508184">
                <a:tc>
                  <a:txBody>
                    <a:bodyPr/>
                    <a:lstStyle/>
                    <a:p>
                      <a:r>
                        <a:rPr lang="en-US" dirty="0"/>
                        <a:t>Delivery Reward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Time/Priority Penalty, Reward Points, </a:t>
                      </a:r>
                      <a:r>
                        <a:rPr lang="en-US" b="0" dirty="0"/>
                        <a:t>100 Points = Free Delivery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800942"/>
                  </a:ext>
                </a:extLst>
              </a:tr>
              <a:tr h="325127">
                <a:tc>
                  <a:txBody>
                    <a:bodyPr/>
                    <a:lstStyle/>
                    <a:p>
                      <a:r>
                        <a:rPr lang="en-US" dirty="0"/>
                        <a:t>Delivery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Delivery slot selection, Customized delivery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179106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r>
                        <a:rPr lang="en-US" dirty="0"/>
                        <a:t>Product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substitution, Alternative sizes, Alternative brands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323216"/>
                  </a:ext>
                </a:extLst>
              </a:tr>
              <a:tr h="370092">
                <a:tc>
                  <a:txBody>
                    <a:bodyPr/>
                    <a:lstStyle/>
                    <a:p>
                      <a:r>
                        <a:rPr lang="en-US" dirty="0"/>
                        <a:t>Shopping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price comparison, Past Purchases, Repeat 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382567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r>
                        <a:rPr lang="en-US" dirty="0"/>
                        <a:t>Support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Chat with Us, Problems &amp; Suggestions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781672"/>
                  </a:ext>
                </a:extLst>
              </a:tr>
              <a:tr h="328367">
                <a:tc>
                  <a:txBody>
                    <a:bodyPr/>
                    <a:lstStyle/>
                    <a:p>
                      <a:r>
                        <a:rPr lang="en-US" dirty="0"/>
                        <a:t>Location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location, Delivery location, Distance calculation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964113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r>
                        <a:rPr lang="en-US" dirty="0"/>
                        <a:t>Store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 products, Price and availability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629346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r>
                        <a:rPr lang="en-US" dirty="0"/>
                        <a:t>Admin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 users, Stores, Orders and system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773354"/>
                  </a:ext>
                </a:extLst>
              </a:tr>
              <a:tr h="508184">
                <a:tc>
                  <a:txBody>
                    <a:bodyPr/>
                    <a:lstStyle/>
                    <a:p>
                      <a:r>
                        <a:rPr lang="en-US" dirty="0"/>
                        <a:t>Budget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Rule </a:t>
                      </a:r>
                      <a:r>
                        <a:rPr lang="en-US" b="0"/>
                        <a:t>Ba</a:t>
                      </a:r>
                      <a:r>
                        <a:rPr lang="en-US"/>
                        <a:t>sed Budgeting</a:t>
                      </a:r>
                      <a:r>
                        <a:rPr lang="en-US" b="0"/>
                        <a:t> </a:t>
                      </a:r>
                      <a:r>
                        <a:rPr lang="en-US" b="0" dirty="0"/>
                        <a:t>, </a:t>
                      </a:r>
                      <a:r>
                        <a:rPr lang="en-US" dirty="0"/>
                        <a:t>Low-Budget Quantity Adjustment, Essential Items Prioritized 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8667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3B60-DC48-BE2A-1AC7-184AFF19C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2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8800" dirty="0"/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783552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3566</TotalTime>
  <Words>874</Words>
  <Application>Microsoft Office PowerPoint</Application>
  <PresentationFormat>On-screen Show (4:3)</PresentationFormat>
  <Paragraphs>213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Final Year Project Proposal</vt:lpstr>
      <vt:lpstr>Project Team </vt:lpstr>
      <vt:lpstr>Table of Contents</vt:lpstr>
      <vt:lpstr>Opportunity &amp; Stakeholders</vt:lpstr>
      <vt:lpstr>Stakeholders</vt:lpstr>
      <vt:lpstr>Existing Systems</vt:lpstr>
      <vt:lpstr>Existing Systems</vt:lpstr>
      <vt:lpstr>Problem Statement</vt:lpstr>
      <vt:lpstr>Problem Statement</vt:lpstr>
      <vt:lpstr>Problem Statement</vt:lpstr>
      <vt:lpstr>Problem Statement</vt:lpstr>
      <vt:lpstr>Problem Statement</vt:lpstr>
      <vt:lpstr>Proposed Solution</vt:lpstr>
      <vt:lpstr>Project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zain khan</cp:lastModifiedBy>
  <cp:revision>27</cp:revision>
  <dcterms:created xsi:type="dcterms:W3CDTF">2013-01-22T07:04:44Z</dcterms:created>
  <dcterms:modified xsi:type="dcterms:W3CDTF">2026-10-01T06:45:58Z</dcterms:modified>
</cp:coreProperties>
</file>